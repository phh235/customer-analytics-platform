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90aca79739247cb" /><Relationship Type="http://schemas.openxmlformats.org/officeDocument/2006/relationships/extended-properties" Target="/docProps/app.xml" Id="R4c3fe222f7f04f05" /><Relationship Type="http://schemas.openxmlformats.org/officeDocument/2006/relationships/officeDocument" Target="/ppt/presentation.xml" Id="R4ebc8f57b21c4e4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3bbc652e63f4799"/>
  </p:sldMasterIdLst>
  <p:notesMasterIdLst>
    <p:notesMasterId xmlns:r="http://schemas.openxmlformats.org/officeDocument/2006/relationships" r:id="Rd48b38d428c045fc"/>
  </p:notesMasterIdLst>
  <p:sldIdLst>
    <p:sldId xmlns:r="http://schemas.openxmlformats.org/officeDocument/2006/relationships" id="256" r:id="R32100e25397e4380"/>
    <p:sldId xmlns:r="http://schemas.openxmlformats.org/officeDocument/2006/relationships" id="257" r:id="Rd4db4c5b30b54960"/>
    <p:sldId xmlns:r="http://schemas.openxmlformats.org/officeDocument/2006/relationships" id="258" r:id="R48eea518589846f6"/>
    <p:sldId xmlns:r="http://schemas.openxmlformats.org/officeDocument/2006/relationships" id="259" r:id="Rf780b64a69234b1e"/>
    <p:sldId xmlns:r="http://schemas.openxmlformats.org/officeDocument/2006/relationships" id="260" r:id="Rf7444b94d4514c69"/>
    <p:sldId xmlns:r="http://schemas.openxmlformats.org/officeDocument/2006/relationships" id="261" r:id="Rbbb116854f6a4b97"/>
    <p:sldId xmlns:r="http://schemas.openxmlformats.org/officeDocument/2006/relationships" id="262" r:id="R5b2f6a72ef0e443e"/>
    <p:sldId xmlns:r="http://schemas.openxmlformats.org/officeDocument/2006/relationships" id="263" r:id="R4a67ffe6cbd74896"/>
    <p:sldId xmlns:r="http://schemas.openxmlformats.org/officeDocument/2006/relationships" id="264" r:id="Rde5724e77f614021"/>
    <p:sldId xmlns:r="http://schemas.openxmlformats.org/officeDocument/2006/relationships" id="265" r:id="R73e8885cd144414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e11b54ec91b49a1" /><Relationship Type="http://schemas.openxmlformats.org/officeDocument/2006/relationships/slideMaster" Target="/ppt/slideMasters/slideMaster1.xml" Id="Re3bbc652e63f4799" /><Relationship Type="http://schemas.openxmlformats.org/officeDocument/2006/relationships/notesMaster" Target="/ppt/notesMasters/notesMaster1.xml" Id="Rd48b38d428c045fc" /><Relationship Type="http://schemas.openxmlformats.org/officeDocument/2006/relationships/presProps" Target="/ppt/presProps.xml" Id="R38afe49566614e6d" /><Relationship Type="http://schemas.openxmlformats.org/officeDocument/2006/relationships/tableStyles" Target="/ppt/tableStyles.xml" Id="Rcd2acd7803e2475b" /><Relationship Type="http://schemas.openxmlformats.org/officeDocument/2006/relationships/slide" Target="/ppt/slides/slide1.xml" Id="R32100e25397e4380" /><Relationship Type="http://schemas.openxmlformats.org/officeDocument/2006/relationships/slide" Target="/ppt/slides/slide2.xml" Id="Rd4db4c5b30b54960" /><Relationship Type="http://schemas.openxmlformats.org/officeDocument/2006/relationships/slide" Target="/ppt/slides/slide3.xml" Id="R48eea518589846f6" /><Relationship Type="http://schemas.openxmlformats.org/officeDocument/2006/relationships/slide" Target="/ppt/slides/slide4.xml" Id="Rf780b64a69234b1e" /><Relationship Type="http://schemas.openxmlformats.org/officeDocument/2006/relationships/slide" Target="/ppt/slides/slide5.xml" Id="Rf7444b94d4514c69" /><Relationship Type="http://schemas.openxmlformats.org/officeDocument/2006/relationships/slide" Target="/ppt/slides/slide6.xml" Id="Rbbb116854f6a4b97" /><Relationship Type="http://schemas.openxmlformats.org/officeDocument/2006/relationships/slide" Target="/ppt/slides/slide7.xml" Id="R5b2f6a72ef0e443e" /><Relationship Type="http://schemas.openxmlformats.org/officeDocument/2006/relationships/slide" Target="/ppt/slides/slide8.xml" Id="R4a67ffe6cbd74896" /><Relationship Type="http://schemas.openxmlformats.org/officeDocument/2006/relationships/slide" Target="/ppt/slides/slide9.xml" Id="Rde5724e77f614021" /><Relationship Type="http://schemas.openxmlformats.org/officeDocument/2006/relationships/slide" Target="/ppt/slides/slide10.xml" Id="R73e8885cd144414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e91584c15c64a7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ba449ac562b4157" /><Relationship Type="http://schemas.openxmlformats.org/officeDocument/2006/relationships/notesMaster" Target="/ppt/notesMasters/notesMaster1.xml" Id="R04c4e948dce4427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0c15f16734b4f9d" /><Relationship Type="http://schemas.openxmlformats.org/officeDocument/2006/relationships/notesMaster" Target="/ppt/notesMasters/notesMaster1.xml" Id="R5f6152d1f0104bd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aef01a8991043a1" /><Relationship Type="http://schemas.openxmlformats.org/officeDocument/2006/relationships/notesMaster" Target="/ppt/notesMasters/notesMaster1.xml" Id="Ra443782f077b411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47981bd9eb04151" /><Relationship Type="http://schemas.openxmlformats.org/officeDocument/2006/relationships/notesMaster" Target="/ppt/notesMasters/notesMaster1.xml" Id="R24250f85beed4a3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2b9bda5d9e64001" /><Relationship Type="http://schemas.openxmlformats.org/officeDocument/2006/relationships/notesMaster" Target="/ppt/notesMasters/notesMaster1.xml" Id="Rb8f241d8e7474da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69809412d524eae" /><Relationship Type="http://schemas.openxmlformats.org/officeDocument/2006/relationships/notesMaster" Target="/ppt/notesMasters/notesMaster1.xml" Id="R9d6227ebd0af4b1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7e2732a3ad3465d" /><Relationship Type="http://schemas.openxmlformats.org/officeDocument/2006/relationships/notesMaster" Target="/ppt/notesMasters/notesMaster1.xml" Id="R83fd20978ec9466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b6f326e377242d0" /><Relationship Type="http://schemas.openxmlformats.org/officeDocument/2006/relationships/notesMaster" Target="/ppt/notesMasters/notesMaster1.xml" Id="R524676d3638645c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3a154b4bd1448c2" /><Relationship Type="http://schemas.openxmlformats.org/officeDocument/2006/relationships/notesMaster" Target="/ppt/notesMasters/notesMaster1.xml" Id="R8c9e067105dc406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c27ffabed9d4c0a" /><Relationship Type="http://schemas.openxmlformats.org/officeDocument/2006/relationships/notesMaster" Target="/ppt/notesMasters/notesMaster1.xml" Id="R051a6bcab3f04bb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nội dung: README dự án. Bố cục tham khảo dart-ai-slides.pdf và nguyên tắc Vercel Design Guidelines.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Tóm lược bài toán từ mục tiêu và phạm vi của repository.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README, frontend README và backend API documentation.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AGENTS.md, README và backend API documentation.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backend/docs/API.md. Trọng số theo SCRIPT_DUAN_V4_EXCEL_PARITY.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Luồng tổng hợp từ các chức năng client, product analytics và dashboard.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Ảnh chụp trực tiếp từ hệ thống demo. Quyền tham khảo backend/docs/API.md.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Ảnh chụp trực tiếp từ giao diện client của hệ thống demo.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Ảnh chụp trực tiếp từ Dashboard, Phân khúc và Danh sách ưu tiên của hệ thống demo.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Kết quả kiểm thử frontend được xác nhận bằng Vitest: 32 file, 113 test đạt. Hạn chế và hướng phát triển tổng hợp từ trạng thái dự án hiện tại.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9b0411958247d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7c7a53ddabb4616" /><Relationship Type="http://schemas.openxmlformats.org/officeDocument/2006/relationships/slideLayout" Target="/ppt/slideLayouts/slideLayout1.xml" Id="R1d05769132134e3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d05769132134e3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b7d7e8acf74c3d" /><Relationship Type="http://schemas.openxmlformats.org/officeDocument/2006/relationships/image" Target="/ppt/media/image.png" Id="Rd39168233b414b94" /><Relationship Type="http://schemas.openxmlformats.org/officeDocument/2006/relationships/notesSlide" Target="/ppt/notesSlides/notesSlide1.xml" Id="R85c6a66a7b4949d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bd95dc750844a9" /><Relationship Type="http://schemas.openxmlformats.org/officeDocument/2006/relationships/image" Target="/ppt/media/image2.png" Id="R83dc7acddbbf4cc6" /><Relationship Type="http://schemas.openxmlformats.org/officeDocument/2006/relationships/notesSlide" Target="/ppt/notesSlides/notesSlide2.xml" Id="Raec3487e80384eb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29305e93e74ca4" /><Relationship Type="http://schemas.openxmlformats.org/officeDocument/2006/relationships/image" Target="/ppt/media/image3.png" Id="Rd6f85ec523a943bd" /><Relationship Type="http://schemas.openxmlformats.org/officeDocument/2006/relationships/notesSlide" Target="/ppt/notesSlides/notesSlide3.xml" Id="R46268e64196e4a4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0af8a1f78f45bd" /><Relationship Type="http://schemas.openxmlformats.org/officeDocument/2006/relationships/image" Target="/ppt/media/image4.png" Id="R33bd16bc500449e3" /><Relationship Type="http://schemas.openxmlformats.org/officeDocument/2006/relationships/notesSlide" Target="/ppt/notesSlides/notesSlide4.xml" Id="R2fc82cb123d14c4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62c320962d4b55" /><Relationship Type="http://schemas.openxmlformats.org/officeDocument/2006/relationships/image" Target="/ppt/media/image5.png" Id="R333885562e9c4481" /><Relationship Type="http://schemas.openxmlformats.org/officeDocument/2006/relationships/notesSlide" Target="/ppt/notesSlides/notesSlide5.xml" Id="R641f642c7211468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25bbbbe269447c" /><Relationship Type="http://schemas.openxmlformats.org/officeDocument/2006/relationships/image" Target="/ppt/media/image6.png" Id="Rdb5c526b0cab4337" /><Relationship Type="http://schemas.openxmlformats.org/officeDocument/2006/relationships/notesSlide" Target="/ppt/notesSlides/notesSlide6.xml" Id="R16361cc248d84e6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66055dfd9b4411" /><Relationship Type="http://schemas.openxmlformats.org/officeDocument/2006/relationships/image" Target="/ppt/media/image7.png" Id="R8c02b314ee8e4da5" /><Relationship Type="http://schemas.openxmlformats.org/officeDocument/2006/relationships/image" Target="/ppt/media/image8.png" Id="R996b7960c34240c7" /><Relationship Type="http://schemas.openxmlformats.org/officeDocument/2006/relationships/notesSlide" Target="/ppt/notesSlides/notesSlide7.xml" Id="Rcf2b1314b8a6474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f50d3ca8eb4339" /><Relationship Type="http://schemas.openxmlformats.org/officeDocument/2006/relationships/image" Target="/ppt/media/image9.png" Id="R3da8504a08864646" /><Relationship Type="http://schemas.openxmlformats.org/officeDocument/2006/relationships/image" Target="/ppt/media/image10.png" Id="R8cd32f6551964284" /><Relationship Type="http://schemas.openxmlformats.org/officeDocument/2006/relationships/notesSlide" Target="/ppt/notesSlides/notesSlide8.xml" Id="Rfd0f91cee4614ab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05d33f2b534fe2" /><Relationship Type="http://schemas.openxmlformats.org/officeDocument/2006/relationships/image" Target="/ppt/media/image11.png" Id="R464cd1671462425c" /><Relationship Type="http://schemas.openxmlformats.org/officeDocument/2006/relationships/image" Target="/ppt/media/image12.png" Id="R22c74268f8004b85" /><Relationship Type="http://schemas.openxmlformats.org/officeDocument/2006/relationships/image" Target="/ppt/media/image13.png" Id="Re52df579804b4989" /><Relationship Type="http://schemas.openxmlformats.org/officeDocument/2006/relationships/image" Target="/ppt/media/image14.png" Id="Rc9356a482feb42e5" /><Relationship Type="http://schemas.openxmlformats.org/officeDocument/2006/relationships/notesSlide" Target="/ppt/notesSlides/notesSlide9.xml" Id="R0364703eb07b4b6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93054cdb0c4996" /><Relationship Type="http://schemas.openxmlformats.org/officeDocument/2006/relationships/image" Target="/ppt/media/image15.png" Id="R9a1da70013e34213" /><Relationship Type="http://schemas.openxmlformats.org/officeDocument/2006/relationships/notesSlide" Target="/ppt/notesSlides/notesSlide10.xml" Id="R36cc867d9c69414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9168233b414b94"/>
          <a:stretch xmlns:a="http://schemas.openxmlformats.org/drawingml/2006/main"/>
        </p:blipFill>
        <p:spPr>
          <a:xfrm xmlns:a="http://schemas.openxmlformats.org/drawingml/2006/main">
            <a:off x="628650" y="514350"/>
            <a:ext cx="419100" cy="4191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7E70A8-E39B-4E54-AAB2-5BFC92993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096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3CS STORE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21D093-C111-4744-8872-A336EC85B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52600"/>
            <a:ext cx="8858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Hệ thống phân khúc khách hàng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và dự đoán giá trị mua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4C762B-1A6A-48E9-A7DA-01BD89197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95675"/>
            <a:ext cx="590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91AE6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91AE6E"/>
                </a:solidFill>
                <a:latin typeface="Arial"/>
                <a:ea typeface="Arial"/>
                <a:cs typeface="Arial"/>
              </a:rPr>
              <a:t>Customer Analytics Platform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72EBD7-A027-4EA9-9A38-314587F35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624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C2C2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45739A-C665-4CD0-996D-102C02489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291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D4D4D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4D4D4"/>
                </a:solidFill>
                <a:latin typeface="Arial"/>
                <a:ea typeface="Arial"/>
                <a:cs typeface="Arial"/>
              </a:rPr>
              <a:t>Phan Huy Hoàng · 25410219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19E823-681F-4583-BAC5-ED2D4834E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720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8F8F8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8F8F8F"/>
                </a:solidFill>
                <a:latin typeface="Arial"/>
                <a:ea typeface="Arial"/>
                <a:cs typeface="Arial"/>
              </a:rPr>
              <a:t>TP. Hồ Chí Minh · 09/2026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8C9B19-C52B-4D51-87A6-88A3D483A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400800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7070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707070"/>
                </a:solidFill>
                <a:latin typeface="Arial"/>
                <a:ea typeface="Arial"/>
                <a:cs typeface="Arial"/>
              </a:rPr>
              <a:t>01 / 10</a:t>
            </a:r>
          </a:p>
        </p:txBody>
      </p:sp>
    </p:spTree>
    <p:extLst>
      <p:ext uri="{BB962C8B-B14F-4D97-AF65-F5344CB8AC3E}">
        <p14:creationId xmlns:p14="http://schemas.microsoft.com/office/powerpoint/2010/main" val="18420212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dc7acddbbf4cc6"/>
          <a:stretch xmlns:a="http://schemas.openxmlformats.org/drawingml/2006/main"/>
        </p:blipFill>
        <p:spPr>
          <a:xfrm xmlns:a="http://schemas.openxmlformats.org/drawingml/2006/main">
            <a:off x="590550" y="28575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810DEE-6A71-4C23-9EB4-CF6FAA211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337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3CS STORE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5383C7-85DD-4039-B87C-9D091801A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29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01 · Tổng quan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19753E-FD2D-4B1A-93F7-F49A7339B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6E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C4F4D3-1CDA-4E70-85A6-DA7E2F550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57950"/>
            <a:ext cx="742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A3A3A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A3A3A3"/>
                </a:solidFill>
                <a:latin typeface="Arial"/>
                <a:ea typeface="Arial"/>
                <a:cs typeface="Arial"/>
              </a:rPr>
              <a:t>02 /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45AF6A-B78A-44EC-9AF4-2AE5CA56B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144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Bài toán đặt ra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F9104C-FA07-4B27-9D08-6CA744317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71650"/>
            <a:ext cx="7239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Dữ liệu khách hàng, giao dịch và tương tác thường nằm ở nhiều nơi. Doanh nghiệp khó nhận biết ai có giá trị cao, ai có khả năng mua lại và sản phẩm nào đang được quan tâm.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D45E85-BD2E-49D3-B426-9BAE6E596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76625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6854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B3CC4E-BA6B-4F77-9179-5A364299D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147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Dữ liệu phân tán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039464-8C50-41AA-8321-5E0B93B29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719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Hồ sơ, đơn hàng và hành vi khó đối chiếu trong một góc nhìn.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9904DC-BCAD-4836-AFA8-BCB14B759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476625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8C8C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33A7D9-75D2-4829-8651-3113FF8DD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7147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Ưu tiên chưa rõ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CB6C02-77B3-48BA-9967-BCA36E915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1719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Đội ngũ thiếu cơ sở để chọn khách hàng cần chăm sóc trước.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53C986-B6EA-4B77-BCCC-D0E9DA75A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476625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8C8C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5AAC13-43C4-41B3-9C72-9ABD3E84E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7147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Phản ứng chậm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8EBE87-BD33-4EFC-B31C-9876E3528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1719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Xu hướng sản phẩm và thay đổi hành vi chỉ được phát hiện sau khi đã xảy ra.</a:t>
            </a:r>
          </a:p>
        </p:txBody>
      </p:sp>
    </p:spTree>
    <p:extLst>
      <p:ext uri="{BB962C8B-B14F-4D97-AF65-F5344CB8AC3E}">
        <p14:creationId xmlns:p14="http://schemas.microsoft.com/office/powerpoint/2010/main" val="42030375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f85ec523a943bd"/>
          <a:stretch xmlns:a="http://schemas.openxmlformats.org/drawingml/2006/main"/>
        </p:blipFill>
        <p:spPr>
          <a:xfrm xmlns:a="http://schemas.openxmlformats.org/drawingml/2006/main">
            <a:off x="590550" y="28575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42A2FF-8C1E-4271-A2C3-323D9CCDF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337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3CS STORE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9F1FB5-DA41-4F3D-9009-CC9055272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29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01 · Tổng quan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9CD10D-CCE6-4683-A0B4-F94A3A464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6E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4A920C-6980-4A18-A2B6-2C78621FE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57950"/>
            <a:ext cx="742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A3A3A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A3A3A3"/>
                </a:solidFill>
                <a:latin typeface="Arial"/>
                <a:ea typeface="Arial"/>
                <a:cs typeface="Arial"/>
              </a:rPr>
              <a:t>03 /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FBDDA8-874E-4D61-B13D-B277CB7BE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144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Mục tiêu và phạm vi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DEED99-3584-47AA-A5D3-4812CA94F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4310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66854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6854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C9D0F1-81C8-4949-BB83-EA277E5BF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943100"/>
            <a:ext cx="1952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Quản lý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CDD77B-2507-4656-BE7C-E15939CC4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943100"/>
            <a:ext cx="742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Hồ sơ khách hàng, sản phẩm, giao dịch và tài khoản theo quyền.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D2E08E-8F00-4825-9022-4E6653344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581275"/>
            <a:ext cx="971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6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417A59-BC77-484C-A797-2FA4D2AD4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1940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A3A3A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A3A3A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2F11C0-3C10-4C11-B8CE-AFBC506A1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819400"/>
            <a:ext cx="1952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Phân tích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27B013-407E-4876-81CF-E7C5F46F9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819400"/>
            <a:ext cx="742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Phân khúc hành vi, điểm tiềm năng và xu hướng kinh doanh.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693681-4314-42C7-B91F-F2BE19CDB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457575"/>
            <a:ext cx="971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6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6182D2-E37D-49D8-BB42-D0F1FDC59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9570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A3A3A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A3A3A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4DED13-0C31-44C1-9CBC-77F485F94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695700"/>
            <a:ext cx="1952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Dự đoán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C3EB6D-1195-4710-9457-2DC962F5A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695700"/>
            <a:ext cx="742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Ước lượng khả năng mua lại và tạo danh sách khách hàng ưu tiên.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0A8094-8B54-4C37-B805-E6D7F4AB2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333875"/>
            <a:ext cx="971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6E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1D20EA-D459-4914-95DA-18375FC08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A3A3A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A3A3A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7F3E74-CC91-4B5A-BD85-E493F4CF2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572000"/>
            <a:ext cx="1952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Tương tác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3BBF74-9136-4E81-B549-591B142B6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572000"/>
            <a:ext cx="742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Theo dõi lượt xem sản phẩm và hỗ trợ truy vấn bằng 3CS AI.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94A2DC-94FE-429C-AFD7-C06D21531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210175"/>
            <a:ext cx="971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6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5C5311-BF58-40CE-ACE5-B93E5AEDB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57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Hai không gian sử dụng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F7D17E-9263-4EF5-A31F-2D6AC1FB6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55816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Khách hàng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EDED1E-5FF5-416F-AD10-C10132658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5816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Quản trị viên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C00423-0C94-4717-8F60-3E1D94132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5934075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Xem sản phẩm và tạo tín hiệu quan tâm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DC5017C-6EC0-44E1-A8E9-2BC5D102E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93407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Theo dõi dữ liệu và ra quyết định</a:t>
            </a:r>
          </a:p>
        </p:txBody>
      </p:sp>
    </p:spTree>
    <p:extLst>
      <p:ext uri="{BB962C8B-B14F-4D97-AF65-F5344CB8AC3E}">
        <p14:creationId xmlns:p14="http://schemas.microsoft.com/office/powerpoint/2010/main" val="68643346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bd16bc500449e3"/>
          <a:stretch xmlns:a="http://schemas.openxmlformats.org/drawingml/2006/main"/>
        </p:blipFill>
        <p:spPr>
          <a:xfrm xmlns:a="http://schemas.openxmlformats.org/drawingml/2006/main">
            <a:off x="590550" y="28575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CD3CE5-827D-43EE-A365-4AFC30F07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337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3CS STORE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E607B7-9DBF-4CD3-BBB8-A7BD83512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29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02 · Phân tích và thiết kế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5E7EFC-21C4-40B2-80FC-6CDB744F4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6E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48CC27-EA70-4C03-8A5E-3B8257535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57950"/>
            <a:ext cx="742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A3A3A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A3A3A3"/>
                </a:solidFill>
                <a:latin typeface="Arial"/>
                <a:ea typeface="Arial"/>
                <a:cs typeface="Arial"/>
              </a:rPr>
              <a:t>04 /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F9E2D7-F015-4AB8-AFE0-17B370652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144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Kiến trúc tổng thể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15A49D-D267-4E66-A538-788BC69C4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95425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Các thành phần chính và luồng trao đổi dữ liệu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962678-52F8-4BC9-85C2-9658DECA2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57450"/>
            <a:ext cx="2266950" cy="1295400"/>
          </a:xfrm>
          <a:prstGeom xmlns:a="http://schemas.openxmlformats.org/drawingml/2006/main" prst="roundRect">
            <a:avLst>
              <a:gd name="adj" fmla="val 7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8C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A82B4E-B142-4F27-9BAA-D48FB2126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479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Giao diện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D7094A-8C2F-44A1-98FA-D0F72BE74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480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6854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8546"/>
                </a:solidFill>
                <a:latin typeface="Arial"/>
                <a:ea typeface="Arial"/>
                <a:cs typeface="Arial"/>
              </a:rPr>
              <a:t>React · TypeScript · Vite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103B1C-346E-45C0-9020-D2445715F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909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Client và trang quản trị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017B6C-E4F9-4B15-89CF-A68A73C4C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209800"/>
            <a:ext cx="2476500" cy="1790700"/>
          </a:xfrm>
          <a:prstGeom xmlns:a="http://schemas.openxmlformats.org/drawingml/2006/main" prst="roundRect">
            <a:avLst>
              <a:gd name="adj" fmla="val 5319"/>
            </a:avLst>
          </a:prstGeom>
          <a:solidFill xmlns:a="http://schemas.openxmlformats.org/drawingml/2006/main">
            <a:srgbClr val="050505"/>
          </a:solidFill>
          <a:ln xmlns:a="http://schemas.openxmlformats.org/drawingml/2006/main" w="9525">
            <a:solidFill>
              <a:srgbClr val="05050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409550-4EEB-4566-BCC8-5AF462C94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457450"/>
            <a:ext cx="2038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API và nghiệp vụ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B001D5-43CD-429A-96E7-59AAF563E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924175"/>
            <a:ext cx="2038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91AE6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91AE6E"/>
                </a:solidFill>
                <a:latin typeface="Arial"/>
                <a:ea typeface="Arial"/>
                <a:cs typeface="Arial"/>
              </a:rPr>
              <a:t>FastAPI · Python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598352-ECE4-41E5-B23D-8D1947027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314700"/>
            <a:ext cx="2038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CFCFC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CFCFCF"/>
                </a:solidFill>
                <a:latin typeface="Arial"/>
                <a:ea typeface="Arial"/>
                <a:cs typeface="Arial"/>
              </a:rPr>
              <a:t>Xác thực, quyền, kiểm tra dữ liệu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CFCFC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CFCFCF"/>
                </a:solidFill>
                <a:latin typeface="Arial"/>
                <a:ea typeface="Arial"/>
                <a:cs typeface="Arial"/>
              </a:rPr>
              <a:t>và điều phối phân tích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75A86D-1DE6-4799-B43F-6CED20359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543050"/>
            <a:ext cx="40386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8C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B945F1-6978-4C11-B519-3F8A49733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7335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PostgreSQL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AC1C64-BD3C-499A-A350-EE88EB5CC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7526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Khách hàng · giao dịch · phân tích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3A1E62-EB2E-49C1-A6D3-D14EFF4B3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705100"/>
            <a:ext cx="40386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8C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EF0384-7E92-4676-8263-3CB02A390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8956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Mô hình ML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203537-66EC-4BB8-8E77-7DF0AD66C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9146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Phân khúc và dự đoán mua lại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3FA0E8-B8E4-4DB6-A215-FACDBB49E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867150"/>
            <a:ext cx="40386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8C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C5890E-726F-4B2D-8BA3-859D060F5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0576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Dịch vụ ngoài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61D877-318B-422B-A57E-63E52AED4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0767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Cloudinary · Groq Cloud</a:t>
            </a:r>
          </a:p>
        </p:txBody>
      </p:sp>
      <p:cxnSp>
        <p:nvCxnSpPr>
          <p:cNvPr id="54" name=""/>
          <p:cNvCxnSpPr>
            <a:stCxn xmlns:a="http://schemas.openxmlformats.org/drawingml/2006/main" id="8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2857500" y="3105150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8C8C8"/>
            </a:solidFill>
            <a:prstDash val="solid"/>
            <a:headEnd type="triangle" w="sm" len="sm"/>
          </a:ln>
        </p:spPr>
      </p:cxnSp>
      <p:cxnSp>
        <p:nvCxnSpPr>
          <p:cNvPr id="55" name=""/>
          <p:cNvCxnSpPr>
            <a:stCxn xmlns:a="http://schemas.openxmlformats.org/drawingml/2006/main" id="12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 flipV="1">
            <a:off x="6286500" y="1952625"/>
            <a:ext cx="1047750" cy="115252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C8C8C8"/>
            </a:solidFill>
            <a:prstDash val="solid"/>
            <a:headEnd type="triangle" w="sm" len="sm"/>
          </a:ln>
        </p:spPr>
      </p:cxnSp>
      <p:cxnSp>
        <p:nvCxnSpPr>
          <p:cNvPr id="56" name=""/>
          <p:cNvCxnSpPr>
            <a:stCxn xmlns:a="http://schemas.openxmlformats.org/drawingml/2006/main" id="12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6286500" y="3105150"/>
            <a:ext cx="1047750" cy="952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C8C8C8"/>
            </a:solidFill>
            <a:prstDash val="solid"/>
            <a:headEnd type="triangle" w="sm" len="sm"/>
          </a:ln>
        </p:spPr>
      </p:cxnSp>
      <p:cxnSp>
        <p:nvCxnSpPr>
          <p:cNvPr id="57" name=""/>
          <p:cNvCxnSpPr>
            <a:stCxn xmlns:a="http://schemas.openxmlformats.org/drawingml/2006/main" id="12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6286500" y="3105150"/>
            <a:ext cx="1047750" cy="117157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C8C8C8"/>
            </a:solidFill>
            <a:prstDash val="solid"/>
            <a:headEnd type="triangle" w="sm" len="sm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02CEC31-723D-4D39-90FF-B60799B5A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3624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HTTPS · JSON · SSE</a:t>
            </a:r>
          </a:p>
        </p:txBody>
      </p:sp>
    </p:spTree>
    <p:extLst>
      <p:ext uri="{BB962C8B-B14F-4D97-AF65-F5344CB8AC3E}">
        <p14:creationId xmlns:p14="http://schemas.microsoft.com/office/powerpoint/2010/main" val="187724690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3885562e9c4481"/>
          <a:stretch xmlns:a="http://schemas.openxmlformats.org/drawingml/2006/main"/>
        </p:blipFill>
        <p:spPr>
          <a:xfrm xmlns:a="http://schemas.openxmlformats.org/drawingml/2006/main">
            <a:off x="590550" y="28575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C5709D-8132-4469-B522-4FA37325B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337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3CS STORE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D52022-6623-4CDD-A830-60F6B42D3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29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03 · Phân tích dữ liệu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3002B2-62CB-4AC9-B6F0-F6E194F44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6E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AADDCA-B8F6-4E85-9B52-7E0BFAA89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57950"/>
            <a:ext cx="742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A3A3A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A3A3A3"/>
                </a:solidFill>
                <a:latin typeface="Arial"/>
                <a:ea typeface="Arial"/>
                <a:cs typeface="Arial"/>
              </a:rPr>
              <a:t>05 /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B9A6FC-6365-478B-80B5-F9607AE90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144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Điểm tiềm năng khách hàng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179DF2-98AF-4C5E-9CCF-557C9ADA6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95425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Kết hợp giá trị giao dịch và tín hiệu tương tác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0C0F9C-C648-4627-9683-2D6CD64F5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47875"/>
            <a:ext cx="11010900" cy="1066800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050505"/>
          </a:solidFill>
          <a:ln xmlns:a="http://schemas.openxmlformats.org/drawingml/2006/main" w="9525">
            <a:solidFill>
              <a:srgbClr val="05050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20A921-65CF-4D71-9409-280F9F4A5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6220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Potential Score = (R × 0,35 + F × 0,30 + M × 0,20 + Interaction × 0,15) × 20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8D82B0-914F-488D-B315-70145658D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81400"/>
            <a:ext cx="66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668546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668546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B27E18-56B4-4620-920E-36AF1255E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657600"/>
            <a:ext cx="72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35%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32D267-73A7-40E5-A9B1-4D35AD6B8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91000"/>
            <a:ext cx="2238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Mức độ gần đây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1D8E55-ABA4-428D-8D8E-30504FF74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581400"/>
            <a:ext cx="66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940E8A-F582-4058-BBC5-A18049345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657600"/>
            <a:ext cx="72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30%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ABE636-86E7-4C3D-B430-9C1D14A67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4191000"/>
            <a:ext cx="2238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Tần suất mua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9FDEFA-C1E7-4895-98FC-661F1C45E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81400"/>
            <a:ext cx="66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249159-0275-4377-80FB-541EB2284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657600"/>
            <a:ext cx="72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20%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5CD8C9-7488-4D11-B53F-5740BA1A9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191000"/>
            <a:ext cx="2238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Giá trị chi tiêu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1F0908-BE03-44F0-A054-EFB362078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3581400"/>
            <a:ext cx="66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40AFF3-6306-4F66-B430-655B8C00F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3657600"/>
            <a:ext cx="72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15%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D500B1-02C7-4ADC-ABC3-42D54DFB9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4191000"/>
            <a:ext cx="2238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Tương tác sản phẩm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C8D34E-3DD9-4F6C-BD07-697EF6FD8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05375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6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FCAB9B-E0E3-491A-AD76-5B7EEE690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197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Tiềm năng cao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12BF1C-46A5-48E8-9714-25B9ABADA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8640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≥ 80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3F5517-6EBF-435F-ACDA-F1BFE642E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1027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Ưu tiên chăm sóc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DE49772-E8F5-4F03-9D7F-AE138D3E9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5219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Tiềm năng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054A418-69E3-4BB2-A80B-44EF51BCB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548640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60–79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127733-880C-4E46-8674-5C63F2140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601027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Theo dõi và nuôi dưỡng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3977590-308F-4B37-B3F9-E564FA907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2197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Thông thường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7B60576-4112-4AB9-AEF2-5792F3AF5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48640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&lt; 60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65D3704-F3B1-4EED-8A69-26B1587A8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01027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Duy trì tương tác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F390301-08FE-49B7-BDF1-529FA0880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219700"/>
            <a:ext cx="2343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Chưa đủ dữ liệu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DEFA567-76A2-41B2-8065-0D2391181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486400"/>
            <a:ext cx="2343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F92D36E-DFA2-434D-8F69-C91C0002F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6010275"/>
            <a:ext cx="2343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Không thay null bằng 0</a:t>
            </a:r>
          </a:p>
        </p:txBody>
      </p:sp>
    </p:spTree>
    <p:extLst>
      <p:ext uri="{BB962C8B-B14F-4D97-AF65-F5344CB8AC3E}">
        <p14:creationId xmlns:p14="http://schemas.microsoft.com/office/powerpoint/2010/main" val="199994172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5c526b0cab4337"/>
          <a:stretch xmlns:a="http://schemas.openxmlformats.org/drawingml/2006/main"/>
        </p:blipFill>
        <p:spPr>
          <a:xfrm xmlns:a="http://schemas.openxmlformats.org/drawingml/2006/main">
            <a:off x="590550" y="28575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C7575D-4D62-4785-9FD1-5982FBA7E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337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3CS STORE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6D5C92-F9C4-483A-99A8-84BFF71B7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29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03 · Phân tích dữ liệu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4E974D-F656-49D1-9169-FAB5340E4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6E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E7FC27-F457-4789-B340-F54832B8C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57950"/>
            <a:ext cx="742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A3A3A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A3A3A3"/>
                </a:solidFill>
                <a:latin typeface="Arial"/>
                <a:ea typeface="Arial"/>
                <a:cs typeface="Arial"/>
              </a:rPr>
              <a:t>06 /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E1FD28-A363-4430-B17E-6B8281D8F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144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Luồng nghiệp vụ phân tích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9719F1-B114-4B1B-90E0-B0D89AE61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43150"/>
            <a:ext cx="1866900" cy="18097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8C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02AB54-8B89-4053-849C-DD34787A7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4317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66854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854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F3D0F8-0912-4815-B874-1BD680482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0375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Khách hàng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E9176F-BDA5-4087-A923-02F657E79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76625"/>
            <a:ext cx="1485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Xem sản phẩm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và phát sinh giao dịch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D27B87-21D0-46A2-88AD-0F8B0486D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343150"/>
            <a:ext cx="1866900" cy="18097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8C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03812D-7CEC-4C15-A938-FA31CC1B9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54317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66854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854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136B2A-8CFD-4177-BEFB-BA864AB84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000375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Thu thập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AD93E4-B69F-4572-8D36-774CB352C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476625"/>
            <a:ext cx="1485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Hồ sơ, đơn hàng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và lượt tương tác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093E0B-48F0-4F14-AA8B-31B0775D3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343150"/>
            <a:ext cx="1866900" cy="18097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050505"/>
          </a:solidFill>
          <a:ln xmlns:a="http://schemas.openxmlformats.org/drawingml/2006/main" w="9525">
            <a:solidFill>
              <a:srgbClr val="05050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ECA5A9-21E0-4CC3-A134-0F2D00756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54317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91AE6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91AE6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206BA8-162B-473C-8E33-22AD16014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000375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Phân tích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594AF2-7645-48A3-9AA9-77B19078F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476625"/>
            <a:ext cx="1485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CCCCC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CCCCCC"/>
                </a:solidFill>
                <a:latin typeface="Arial"/>
                <a:ea typeface="Arial"/>
                <a:cs typeface="Arial"/>
              </a:rPr>
              <a:t>RFM, phân khúc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CCCCC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CCCCCC"/>
                </a:solidFill>
                <a:latin typeface="Arial"/>
                <a:ea typeface="Arial"/>
                <a:cs typeface="Arial"/>
              </a:rPr>
              <a:t>và điểm tiềm năng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221552-A05F-4475-88AC-F4C1C03B8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343150"/>
            <a:ext cx="1866900" cy="18097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8C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F7D881-0A8E-4546-A713-D97737526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54317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66854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854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D764C0-0BCD-4446-B652-B3219EBED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000375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Dự đoán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A5130E-167A-4ABF-A294-BFCAFE655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476625"/>
            <a:ext cx="1485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Khả năng mua lại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và sản phẩm quan tâm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38D749-36A9-4404-B6F1-ADB8E0968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343150"/>
            <a:ext cx="1866900" cy="18097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8C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B36F32-1D4A-4D6A-9277-99865DEBA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54317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66854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854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EF6DA9F-22EF-4071-A7C8-D7B5FA377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000375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Hành động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46BABC8-3CFA-470A-BFCD-EFCB8B31E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476625"/>
            <a:ext cx="1485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Danh sách ưu tiên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và chăm sóc phù hợp</a:t>
            </a:r>
          </a:p>
        </p:txBody>
      </p:sp>
      <p:cxnSp>
        <p:nvCxnSpPr>
          <p:cNvPr id="58" name=""/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2457450" y="3248025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C8C8C8"/>
            </a:solidFill>
            <a:prstDash val="solid"/>
            <a:headEnd type="triangle" w="sm" len="sm"/>
          </a:ln>
        </p:spPr>
      </p:cxnSp>
      <p:cxnSp>
        <p:nvCxnSpPr>
          <p:cNvPr id="59" name=""/>
          <p:cNvCxnSpPr>
            <a:stCxn xmlns:a="http://schemas.openxmlformats.org/drawingml/2006/main" id="11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4648200" y="3248025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C8C8C8"/>
            </a:solidFill>
            <a:prstDash val="solid"/>
            <a:headEnd type="triangle" w="sm" len="sm"/>
          </a:ln>
        </p:spPr>
      </p:cxnSp>
      <p:cxnSp>
        <p:nvCxnSpPr>
          <p:cNvPr id="60" name=""/>
          <p:cNvCxnSpPr>
            <a:stCxn xmlns:a="http://schemas.openxmlformats.org/drawingml/2006/main" id="15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6838950" y="3248025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C8C8C8"/>
            </a:solidFill>
            <a:prstDash val="solid"/>
            <a:headEnd type="triangle" w="sm" len="sm"/>
          </a:ln>
        </p:spPr>
      </p:cxnSp>
      <p:cxnSp>
        <p:nvCxnSpPr>
          <p:cNvPr id="61" name=""/>
          <p:cNvCxnSpPr>
            <a:stCxn xmlns:a="http://schemas.openxmlformats.org/drawingml/2006/main" id="19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9029700" y="3248025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C8C8C8"/>
            </a:solidFill>
            <a:prstDash val="solid"/>
            <a:headEnd type="triangle" w="sm" len="sm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E14F0C7-FEDD-4900-9F24-A5C230DBC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857750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Dữ liệu từ trải nghiệm mua sắm quay lại phục vụ quyết định quản trị</a:t>
            </a:r>
          </a:p>
        </p:txBody>
      </p:sp>
    </p:spTree>
    <p:extLst>
      <p:ext uri="{BB962C8B-B14F-4D97-AF65-F5344CB8AC3E}">
        <p14:creationId xmlns:p14="http://schemas.microsoft.com/office/powerpoint/2010/main" val="99608045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02b314ee8e4da5"/>
          <a:stretch xmlns:a="http://schemas.openxmlformats.org/drawingml/2006/main"/>
        </p:blipFill>
        <p:spPr>
          <a:xfrm xmlns:a="http://schemas.openxmlformats.org/drawingml/2006/main">
            <a:off x="590550" y="28575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74B1D5-5CE6-4B29-9B20-A1633DB00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337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3CS STORE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AFFDA6-5BC6-4F5F-A07A-33F7F9028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29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04 · Giao diện và phân quyền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B9B540-F96E-4261-BFD2-CF2722AFB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6E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C9950F-5774-419E-A6B9-F41253145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57950"/>
            <a:ext cx="742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A3A3A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A3A3A3"/>
                </a:solidFill>
                <a:latin typeface="Arial"/>
                <a:ea typeface="Arial"/>
                <a:cs typeface="Arial"/>
              </a:rPr>
              <a:t>07 /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CFA8A8-B276-4430-AFB3-8E0C7A9F7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144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Đăng nhập và phân quyền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4CDDDB-4279-4305-8DF6-B1FF11A8E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762125"/>
            <a:ext cx="6553200" cy="4133850"/>
          </a:xfrm>
          <a:prstGeom xmlns:a="http://schemas.openxmlformats.org/drawingml/2006/main" prst="roundRect">
            <a:avLst>
              <a:gd name="adj" fmla="val 2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8C8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6b7960c34240c7"/>
          <a:srcRect xmlns:a="http://schemas.openxmlformats.org/drawingml/2006/main" l="29" t="0" r="2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" y="1809750"/>
            <a:ext cx="6457950" cy="4038600"/>
          </a:xfrm>
          <a:prstGeom xmlns:a="http://schemas.openxmlformats.org/drawingml/2006/main" prst="roundRect">
            <a:avLst>
              <a:gd name="adj" fmla="val 1887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577291-BACE-44D1-AA59-304058C21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962150"/>
            <a:ext cx="3505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Hai không gian sau xác thực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98BCAD-229C-4A7A-93F1-2436E982A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57450"/>
            <a:ext cx="350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8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7D46B3-E42E-4C87-B6F2-C652FB729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62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Khách hàng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0F71CA-1E38-4984-856E-122ADB5D4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43250"/>
            <a:ext cx="333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Xem danh mục và chi tiết sản phẩm. Mỗi lượt quan tâm tạo thêm dữ liệu hành vi.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8A63A2-7E39-46BD-92A7-CF16A22BE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238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Quản trị viên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E3F0BA-D6FE-4043-AA9C-B364C134D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619625"/>
            <a:ext cx="333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Quản lý dữ liệu, tài khoản, mô hình và toàn bộ báo cáo phân tích.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696381-634C-4900-9D0D-55FBCEABC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6197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66854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8546"/>
                </a:solidFill>
                <a:latin typeface="Arial"/>
                <a:ea typeface="Arial"/>
                <a:cs typeface="Arial"/>
              </a:rPr>
              <a:t>JWT · refresh session · permission checks</a:t>
            </a:r>
          </a:p>
        </p:txBody>
      </p:sp>
    </p:spTree>
    <p:extLst>
      <p:ext uri="{BB962C8B-B14F-4D97-AF65-F5344CB8AC3E}">
        <p14:creationId xmlns:p14="http://schemas.microsoft.com/office/powerpoint/2010/main" val="181741292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a8504a08864646"/>
          <a:stretch xmlns:a="http://schemas.openxmlformats.org/drawingml/2006/main"/>
        </p:blipFill>
        <p:spPr>
          <a:xfrm xmlns:a="http://schemas.openxmlformats.org/drawingml/2006/main">
            <a:off x="590550" y="28575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0A1E01-4501-4A57-8F63-EA0A3F207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337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3CS STORE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25EED1-80DA-463C-9190-72ED2A30F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29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04 · Giao diện và phân quyền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3B1640-74E3-49C7-BB66-E95BF5C8C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6E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6628CA-8DA2-4E10-8D78-8C88A7CD6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57950"/>
            <a:ext cx="742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A3A3A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A3A3A3"/>
                </a:solidFill>
                <a:latin typeface="Arial"/>
                <a:ea typeface="Arial"/>
                <a:cs typeface="Arial"/>
              </a:rPr>
              <a:t>08 /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194280-E865-4B0B-9B03-38CB36BE1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144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Trải nghiệm phía khách hàng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EE6A58-421B-4541-AC05-5D0A41647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431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Tìm sản phẩm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63F87A-5908-4D6D-8FD0-124D13819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33625"/>
            <a:ext cx="3429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Danh sách có tìm kiếm, lọc danh mục và phân trang để người dùng tiếp cận sản phẩm nhanh hơn.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268D05-52EE-4062-A310-3CEA3293F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004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Tạo tín hiệu quan tâm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FE1179-4806-42B3-8228-07746FF8C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90975"/>
            <a:ext cx="3429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Lượt xem sản phẩm được ghi nhận và liên kết với hồ sơ khách hàng để phục vụ phân tích.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4DE87E-B64C-46CA-A297-2B4147159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578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Giao diện thích ứng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7556F2-2C7A-4064-9E37-EE1648448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48325"/>
            <a:ext cx="333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Hỗ trợ chế độ sáng, tối và nhiều kích thước màn hình.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B36AB9-E7B4-4C73-824A-F3F848F4B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743075"/>
            <a:ext cx="7239000" cy="4562475"/>
          </a:xfrm>
          <a:prstGeom xmlns:a="http://schemas.openxmlformats.org/drawingml/2006/main" prst="roundRect">
            <a:avLst>
              <a:gd name="adj" fmla="val 25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8C8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d32f6551964284"/>
          <a:srcRect xmlns:a="http://schemas.openxmlformats.org/drawingml/2006/main" l="27" t="0" r="2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57700" y="1790700"/>
            <a:ext cx="7143750" cy="4467225"/>
          </a:xfrm>
          <a:prstGeom xmlns:a="http://schemas.openxmlformats.org/drawingml/2006/main" prst="roundRect">
            <a:avLst>
              <a:gd name="adj" fmla="val 1706"/>
            </a:avLst>
          </a:prstGeom>
        </p:spPr>
      </p:pic>
    </p:spTree>
    <p:extLst>
      <p:ext uri="{BB962C8B-B14F-4D97-AF65-F5344CB8AC3E}">
        <p14:creationId xmlns:p14="http://schemas.microsoft.com/office/powerpoint/2010/main" val="129702686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4cd1671462425c"/>
          <a:stretch xmlns:a="http://schemas.openxmlformats.org/drawingml/2006/main"/>
        </p:blipFill>
        <p:spPr>
          <a:xfrm xmlns:a="http://schemas.openxmlformats.org/drawingml/2006/main">
            <a:off x="590550" y="28575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EDE40A-14FD-46FB-9A4D-E651F83F4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337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3CS STORE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CE66DD-AFDB-4E85-A92A-576B8AAAE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29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04 · Giao diện và phân quyền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1064B7-D6BB-447B-BBDA-03BA78EC4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6E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95411B-E803-4F30-A8C5-474460FE4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57950"/>
            <a:ext cx="742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A3A3A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A3A3A3"/>
                </a:solidFill>
                <a:latin typeface="Arial"/>
                <a:ea typeface="Arial"/>
                <a:cs typeface="Arial"/>
              </a:rPr>
              <a:t>09 /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DDBE05-801C-428B-A038-0CFF69704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144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Quản trị và phân tích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CB3DF5-4A0D-4402-9294-59457734E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724025"/>
            <a:ext cx="7181850" cy="4524375"/>
          </a:xfrm>
          <a:prstGeom xmlns:a="http://schemas.openxmlformats.org/drawingml/2006/main" prst="roundRect">
            <a:avLst>
              <a:gd name="adj" fmla="val 2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8C8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c74268f8004b8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" y="1771650"/>
            <a:ext cx="7086600" cy="4429125"/>
          </a:xfrm>
          <a:prstGeom xmlns:a="http://schemas.openxmlformats.org/drawingml/2006/main" prst="roundRect">
            <a:avLst>
              <a:gd name="adj" fmla="val 1720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602A54-39C6-4783-9555-245682DDE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1724025"/>
            <a:ext cx="3676650" cy="2333625"/>
          </a:xfrm>
          <a:prstGeom xmlns:a="http://schemas.openxmlformats.org/drawingml/2006/main" prst="roundRect">
            <a:avLst>
              <a:gd name="adj" fmla="val 48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8C8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2df579804b498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20050" y="1771650"/>
            <a:ext cx="3581400" cy="2238375"/>
          </a:xfrm>
          <a:prstGeom xmlns:a="http://schemas.openxmlformats.org/drawingml/2006/main" prst="roundRect">
            <a:avLst>
              <a:gd name="adj" fmla="val 3404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20ED69-B476-4901-A1FA-25E28D5AB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4210050"/>
            <a:ext cx="3676650" cy="2038350"/>
          </a:xfrm>
          <a:prstGeom xmlns:a="http://schemas.openxmlformats.org/drawingml/2006/main" prst="roundRect">
            <a:avLst>
              <a:gd name="adj" fmla="val 56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8C8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356a482feb42e5"/>
          <a:srcRect xmlns:a="http://schemas.openxmlformats.org/drawingml/2006/main" l="0" t="6596" r="0" b="659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20050" y="4257675"/>
            <a:ext cx="3581400" cy="1943100"/>
          </a:xfrm>
          <a:prstGeom xmlns:a="http://schemas.openxmlformats.org/drawingml/2006/main" prst="roundRect">
            <a:avLst>
              <a:gd name="adj" fmla="val 3922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49B6CD-BF3E-499E-B0DE-3860F5F96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62674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66854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8546"/>
                </a:solidFill>
                <a:latin typeface="Arial"/>
                <a:ea typeface="Arial"/>
                <a:cs typeface="Arial"/>
              </a:rPr>
              <a:t>Một màn hình tổng quan</a:t>
            </a:r>
          </a:p>
        </p:txBody>
      </p:sp>
    </p:spTree>
    <p:extLst>
      <p:ext uri="{BB962C8B-B14F-4D97-AF65-F5344CB8AC3E}">
        <p14:creationId xmlns:p14="http://schemas.microsoft.com/office/powerpoint/2010/main" val="165763981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1da70013e34213"/>
          <a:stretch xmlns:a="http://schemas.openxmlformats.org/drawingml/2006/main"/>
        </p:blipFill>
        <p:spPr>
          <a:xfrm xmlns:a="http://schemas.openxmlformats.org/drawingml/2006/main">
            <a:off x="628650" y="4191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BA1B17-C9BC-460D-8213-533E473CE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Kết quả triển khai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55F6C0-0CBC-4B87-A70E-0F10A2F60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85950"/>
            <a:ext cx="685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D5D5D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5D5D5"/>
                </a:solidFill>
                <a:latin typeface="Arial"/>
                <a:ea typeface="Arial"/>
                <a:cs typeface="Arial"/>
              </a:rPr>
              <a:t>Hệ thống đã kết nối trải nghiệm khách hàng với phân tích quản trị trong một luồng dữ liệu thống nhất.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9686BA-D2F2-4AE3-96A6-173E4FDB2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432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1AE6E"/>
          </a:solidFill>
          <a:ln xmlns:a="http://schemas.openxmlformats.org/drawingml/2006/main" w="9525">
            <a:solidFill>
              <a:srgbClr val="91AE6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BF9DF4-D7C5-47A3-8C11-55712263A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05150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Quản lý khách hàng, sản phẩm, giao dịch và tài khoản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F956EF-EF2A-47FB-982D-9EAE8752E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1AE6E"/>
          </a:solidFill>
          <a:ln xmlns:a="http://schemas.openxmlformats.org/drawingml/2006/main" w="9525">
            <a:solidFill>
              <a:srgbClr val="91AE6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BB01A6-F67C-49B4-9FB1-D06C8A43C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19500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Phân khúc, điểm tiềm năng và dự đoán mua lại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50C101-998B-4CD4-9C65-E966EA323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719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1AE6E"/>
          </a:solidFill>
          <a:ln xmlns:a="http://schemas.openxmlformats.org/drawingml/2006/main" w="9525">
            <a:solidFill>
              <a:srgbClr val="91AE6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2E7EDB-A1A6-4366-B8DA-A03EC2A2B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33850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Theo dõi mức độ quan tâm sản phẩm và danh sách ưu tiên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C6C940-DD38-4E72-9A05-A992AC45D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863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1AE6E"/>
          </a:solidFill>
          <a:ln xmlns:a="http://schemas.openxmlformats.org/drawingml/2006/main" w="9525">
            <a:solidFill>
              <a:srgbClr val="91AE6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F2584E-B64C-44F0-B3B1-1B74B25DC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48200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113 kiểm thử frontend đạt trong lần kiểm tra gần nhất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E64D2A-1853-4DC4-824A-423A0EEAC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20015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6363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AED5F8-8580-4983-ADCF-DB199E576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20015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Hướng phát triển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414341-CBBC-4B15-8EA4-C6A0E7F0E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81200"/>
            <a:ext cx="33337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BDBDB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DBDBD"/>
                </a:solidFill>
                <a:latin typeface="Arial"/>
                <a:ea typeface="Arial"/>
                <a:cs typeface="Arial"/>
              </a:rPr>
              <a:t>Mở rộng dữ liệu thực tế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BDBDB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DBDBD"/>
                </a:solidFill>
                <a:latin typeface="Arial"/>
                <a:ea typeface="Arial"/>
                <a:cs typeface="Arial"/>
              </a:rPr>
              <a:t>Đánh giá mô hình trên tập độc lập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BDBDB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DBDBD"/>
                </a:solidFill>
                <a:latin typeface="Arial"/>
                <a:ea typeface="Arial"/>
                <a:cs typeface="Arial"/>
              </a:rPr>
              <a:t>Theo dõi chất lượng dự đoán theo thời gian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BDBDB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DBDBD"/>
                </a:solidFill>
                <a:latin typeface="Arial"/>
                <a:ea typeface="Arial"/>
                <a:cs typeface="Arial"/>
              </a:rPr>
              <a:t>Hoàn thiện quy trình chăm sóc theo từng phân khúc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174EF3-B2A8-40D9-9DDB-D2022B874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276850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91AE6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91AE6E"/>
                </a:solidFill>
                <a:latin typeface="Arial"/>
                <a:ea typeface="Arial"/>
                <a:cs typeface="Arial"/>
              </a:rPr>
              <a:t>Cảm ơn thầy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33EA0A-8B23-4A4E-AB92-667AEDDCF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8674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8F8F8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8F8F8F"/>
                </a:solidFill>
                <a:latin typeface="Arial"/>
                <a:ea typeface="Arial"/>
                <a:cs typeface="Arial"/>
              </a:rPr>
              <a:t>Nhóm xin lắng nghe câu hỏi và góp ý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8FE4C3-6EB2-4ADA-B348-F2AA77573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400800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7070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707070"/>
                </a:solidFill>
                <a:latin typeface="Arial"/>
                <a:ea typeface="Arial"/>
                <a:cs typeface="Arial"/>
              </a:rPr>
              <a:t>10 / 10</a:t>
            </a:r>
          </a:p>
        </p:txBody>
      </p:sp>
    </p:spTree>
    <p:extLst>
      <p:ext uri="{BB962C8B-B14F-4D97-AF65-F5344CB8AC3E}">
        <p14:creationId xmlns:p14="http://schemas.microsoft.com/office/powerpoint/2010/main" val="4122092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2026-09-20T14:39:59.8260000Z</dcterms:created>
  <dcterms:modified xsi:type="dcterms:W3CDTF">2026-09-20T14:39:59.8260000Z</dcterms:modified>
</coreProperties>
</file>